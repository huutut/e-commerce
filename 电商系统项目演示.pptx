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756000"/>
            <a:ext cx="8280000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82230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1278000"/>
            <a:ext cx="86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15E59"/>
                </a:solidFill>
                <a:latin typeface="Microsoft YaHei"/>
              </a:rPr>
              <a:t>Python FastAPI + PostgreSQL + Redis 全栈电商演示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1674000"/>
            <a:ext cx="86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覆盖前台商城、中文运营后台、商品库存、订单支付、物流售后、权限审计、监控与 Windows 原生部署。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" y="2592000"/>
            <a:ext cx="244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99" y="2717999"/>
            <a:ext cx="2196001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Microsoft YaHei"/>
              </a:rPr>
              <a:t>后端框架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99" y="3042000"/>
            <a:ext cx="2196001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FastAPI / SQLModel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4000" y="2592000"/>
            <a:ext cx="244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9999" y="2717999"/>
            <a:ext cx="2196001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Microsoft YaHei"/>
              </a:rPr>
              <a:t>数据存储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999" y="3042000"/>
            <a:ext cx="2196001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PostgreSQL / Redis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6000" y="2592000"/>
            <a:ext cx="244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99" y="2717999"/>
            <a:ext cx="2196001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Microsoft YaHei"/>
              </a:rPr>
              <a:t>页面能力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99" y="3042000"/>
            <a:ext cx="2196001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Jinja2 中文前后台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8000" y="2592000"/>
            <a:ext cx="244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3999" y="2717999"/>
            <a:ext cx="2196001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Microsoft YaHei"/>
              </a:rPr>
              <a:t>工程质量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3999" y="3042000"/>
            <a:ext cx="2196001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Alembic / pytest / ruff / mypy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4932000"/>
            <a:ext cx="288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2230"/>
                </a:solidFill>
                <a:latin typeface="Microsoft YaHei"/>
              </a:rPr>
              <a:t>独立全栈开发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5220000"/>
            <a:ext cx="648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本地可运行、可演示，并预留真实支付/物流接入与生产部署能力。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项目定位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围绕电商核心业务，构建可演示、可扩展、可生产化的全栈系统。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152000"/>
            <a:ext cx="10944000" cy="4248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386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解决什么问题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000" y="1656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统一管理商品、库存、客户、订单、支付、售后等电商核心数据。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268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面向哪些角色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000" y="2538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运营人员使用后台处理商品、订单、客户、售后；买家通过前台完成浏览和下单。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150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做到什么程度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" y="3420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已形成前台商城 + 后台运营 + API 接入 + 监控部署的完整项目骨架。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4032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技术侧价值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000" y="4302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用 FastAPI、SQLModel、PostgreSQL、Redis 打通业务闭环，并配套迁移、测试和类型检查。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采用 Python 全栈黄金组合，兼顾开发效率、数据建模和本地部署可行性。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116000"/>
            <a:ext cx="5220000" cy="158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000" y="1241999"/>
            <a:ext cx="489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2230"/>
                </a:solidFill>
                <a:latin typeface="Microsoft YaHei"/>
              </a:rPr>
              <a:t>后端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2000" y="1602000"/>
            <a:ext cx="10944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000" y="1630800"/>
            <a:ext cx="10944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8800" y="1602000"/>
            <a:ext cx="12096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8800" y="1630800"/>
            <a:ext cx="12096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Pydantic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8000" y="1602000"/>
            <a:ext cx="792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8000" y="1630800"/>
            <a:ext cx="792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依赖注入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8000" y="1602000"/>
            <a:ext cx="1440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8000" y="1630800"/>
            <a:ext cx="1440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API Key 鉴权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1116000"/>
            <a:ext cx="5220000" cy="158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0000" y="1241999"/>
            <a:ext cx="489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2230"/>
                </a:solidFill>
                <a:latin typeface="Microsoft YaHei"/>
              </a:rPr>
              <a:t>数据层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0000" y="1602000"/>
            <a:ext cx="12096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0000" y="1630800"/>
            <a:ext cx="12096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SQLModel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9200" y="1602000"/>
            <a:ext cx="1440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9200" y="1630800"/>
            <a:ext cx="1440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3200" y="1602000"/>
            <a:ext cx="1440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3200" y="1630800"/>
            <a:ext cx="1440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Alembic 迁移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90000" y="1908000"/>
            <a:ext cx="17856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0000" y="1936800"/>
            <a:ext cx="17856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Repository 分层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3131999"/>
            <a:ext cx="5220000" cy="158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000" y="3257998"/>
            <a:ext cx="489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2230"/>
                </a:solidFill>
                <a:latin typeface="Microsoft YaHei"/>
              </a:rPr>
              <a:t>缓存与稳定性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000" y="3617999"/>
            <a:ext cx="13248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000" y="3646799"/>
            <a:ext cx="13248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Redis 购物车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63600" y="3617999"/>
            <a:ext cx="979199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3600" y="3646799"/>
            <a:ext cx="979199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API 限流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8000" y="3617999"/>
            <a:ext cx="792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8000" y="3646799"/>
            <a:ext cx="792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访问日志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8000" y="3617999"/>
            <a:ext cx="792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8000" y="3646799"/>
            <a:ext cx="792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健康检查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8000" y="3131999"/>
            <a:ext cx="5220000" cy="158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0000" y="3257998"/>
            <a:ext cx="489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2230"/>
                </a:solidFill>
                <a:latin typeface="Microsoft YaHei"/>
              </a:rPr>
              <a:t>页面与测试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90000" y="3617999"/>
            <a:ext cx="15552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0000" y="3646799"/>
            <a:ext cx="15552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Jinja2 中文页面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6400" y="3617999"/>
            <a:ext cx="979199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6400" y="3646799"/>
            <a:ext cx="979199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pytest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90800" y="3617999"/>
            <a:ext cx="792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0800" y="3646799"/>
            <a:ext cx="792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ruff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90800" y="3617999"/>
            <a:ext cx="792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90800" y="3646799"/>
            <a:ext cx="792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mypy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90000" y="3923999"/>
            <a:ext cx="1440000" cy="216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0000" y="3952799"/>
            <a:ext cx="1440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15E59"/>
                </a:solidFill>
                <a:latin typeface="Microsoft YaHei"/>
              </a:rPr>
              <a:t>Playwright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覆盖电商从商品上架到订单履约、售后退款的主要流程。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3999" y="1080000"/>
            <a:ext cx="2592000" cy="4068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1242000"/>
            <a:ext cx="226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5E59"/>
                </a:solidFill>
                <a:latin typeface="Microsoft YaHei"/>
              </a:rPr>
              <a:t>前台商城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999" y="163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商品浏览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999" y="1997999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买家创建/载入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999" y="235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Redis 购物车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271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提交订单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999" y="307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订单确认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4000" y="1080000"/>
            <a:ext cx="2592000" cy="4068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6000" y="1242000"/>
            <a:ext cx="226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5E59"/>
                </a:solidFill>
                <a:latin typeface="Microsoft YaHei"/>
              </a:rPr>
              <a:t>运营后台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2000" y="163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商品管理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2000" y="1997999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库存调整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2000" y="235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订单筛选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2000" y="271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客户管理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2000" y="307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报表中心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999" y="1080000"/>
            <a:ext cx="2592000" cy="4068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5999" y="1242000"/>
            <a:ext cx="226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5E59"/>
                </a:solidFill>
                <a:latin typeface="Microsoft YaHei"/>
              </a:rPr>
              <a:t>交易履约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999" y="163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支付会话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999" y="1997999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Webhook 回调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999" y="235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发货物流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999" y="271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售后申请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999" y="307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退款状态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080000"/>
            <a:ext cx="2592000" cy="4068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6000" y="1242000"/>
            <a:ext cx="2268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5E59"/>
                </a:solidFill>
                <a:latin typeface="Microsoft YaHei"/>
              </a:rPr>
              <a:t>安全治理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2000" y="163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管理员登录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2000" y="1997999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角色权限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2000" y="235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API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2000" y="271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接口限流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2000" y="3078000"/>
            <a:ext cx="21960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2230"/>
                </a:solidFill>
                <a:latin typeface="Microsoft YaHei"/>
              </a:rPr>
              <a:t>▪ 审计日志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按前台、后台、API、服务层、数据层拆分，便于后续扩展真实支付和物流。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188000"/>
            <a:ext cx="2232000" cy="720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前台商城
/store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2592000"/>
            <a:ext cx="2232000" cy="720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运营后台
/admin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3996000"/>
            <a:ext cx="2232000" cy="72000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开放 API
/api/v1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1999" y="1800000"/>
            <a:ext cx="2232000" cy="720000"/>
          </a:xfrm>
          <a:prstGeom prst="roundRect">
            <a:avLst/>
          </a:prstGeom>
          <a:solidFill>
            <a:srgbClr val="115E59"/>
          </a:solidFill>
          <a:ln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FastAPI 路由层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6000" y="1800000"/>
            <a:ext cx="2232000" cy="720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业务服务层
Cart / Orders / Payments / Shipping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6000" y="1224000"/>
            <a:ext cx="2232000" cy="720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PostgreSQL
业务数据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96000" y="2880000"/>
            <a:ext cx="2232000" cy="72000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Redis
购物车/限流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96000" y="4536000"/>
            <a:ext cx="2232000" cy="720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Ops 监控
/ops/metrics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08000" y="1548000"/>
            <a:ext cx="1043999" cy="61200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808000" y="2160000"/>
            <a:ext cx="1043999" cy="791999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808000" y="2160000"/>
            <a:ext cx="1043999" cy="219600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3999" y="2160000"/>
            <a:ext cx="432001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748000" y="1584000"/>
            <a:ext cx="648000" cy="50400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48000" y="2268000"/>
            <a:ext cx="648000" cy="97200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48000" y="2448000"/>
            <a:ext cx="648000" cy="244800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核心业务流程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买家侧和运营侧共用同一套数据模型，形成完整闭环。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232000"/>
            <a:ext cx="1152000" cy="486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商品上架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4000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72000" y="2232000"/>
            <a:ext cx="1152000" cy="486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前台浏览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4000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11999" y="2232000"/>
            <a:ext cx="1152000" cy="486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加入购物车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3999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2000" y="2232000"/>
            <a:ext cx="1152000" cy="4860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提交订单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04000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2000" y="2232000"/>
            <a:ext cx="1152000" cy="486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支付回调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44000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32000" y="2232000"/>
            <a:ext cx="1152000" cy="486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发货物流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84000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72000" y="2232000"/>
            <a:ext cx="1152000" cy="486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售后退款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24000" y="2476800"/>
            <a:ext cx="288000" cy="0"/>
          </a:xfrm>
          <a:prstGeom prst="line">
            <a:avLst/>
          </a:prstGeom>
          <a:ln w="1905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2000" y="2232000"/>
            <a:ext cx="1152000" cy="486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报表审计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600000"/>
            <a:ext cx="1044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后台能力：商品管理、库存调整、订单处理、客户管理、售后处理、报表中心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4031999"/>
            <a:ext cx="1044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前台能力：中文商城、买家身份、Redis 购物车、订单确认、支付入口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生产化能力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不依赖 Docker，兼容 Windows 11 家庭版的本地服务部署方式。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116000"/>
            <a:ext cx="10944000" cy="4248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350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支付接入预留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000" y="1620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支付 checkout 会话、签名 Webhook、幂等事件表，后续可接支付宝/微信/Stripe。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232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物流接入预留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000" y="2502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Shipment 运单模型沉淀承运商、物流单号、追踪链接和发货状态。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114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监控指标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" y="3384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提供 /health/ready、/ops/status、/ops/metrics，便于接入监控系统。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996000"/>
            <a:ext cx="10512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部署脚本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000" y="4266000"/>
            <a:ext cx="10386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提供 Windows 原生 start_prod.ps1、check_prod.ps1 与生产配置样例。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工程质量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项目已配套迁移、测试、类型检查和浏览器回归入口。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224000"/>
            <a:ext cx="2376000" cy="122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386000"/>
            <a:ext cx="2376000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icrosoft YaHe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961999"/>
            <a:ext cx="237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Microsoft YaHei"/>
              </a:rPr>
              <a:t>pytest 用例通过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0" y="1224000"/>
            <a:ext cx="2376000" cy="122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1386000"/>
            <a:ext cx="2376000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icrosoft YaHei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0" y="1961999"/>
            <a:ext cx="237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Microsoft YaHei"/>
              </a:rPr>
              <a:t>mypy 检查源码文件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8000" y="1224000"/>
            <a:ext cx="2376000" cy="122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8000" y="1386000"/>
            <a:ext cx="2376000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icrosoft Ya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0" y="1961999"/>
            <a:ext cx="237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Microsoft YaHei"/>
              </a:rPr>
              <a:t>ruff 当前通过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6000" y="1224000"/>
            <a:ext cx="2376000" cy="1224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6000" y="1386000"/>
            <a:ext cx="2376000" cy="4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F766E"/>
                </a:solidFill>
                <a:latin typeface="Microsoft YaHe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000" y="1961999"/>
            <a:ext cx="2376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Microsoft YaHei"/>
              </a:rPr>
              <a:t>Alembic 数据库迁移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000" y="2951999"/>
            <a:ext cx="10800000" cy="2376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" y="3185999"/>
            <a:ext cx="10368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数据库演进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000" y="3455999"/>
            <a:ext cx="10242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所有结构变化通过 Alembic 管理，支持本地和生产环境一致迁移。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" y="4067999"/>
            <a:ext cx="10368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测试覆盖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000" y="4337999"/>
            <a:ext cx="10242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覆盖后台页面、API 鉴权、购物车下单、前台商城、支付 Webhook、监控端点。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0" y="4949999"/>
            <a:ext cx="10368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代码规范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000" y="5219999"/>
            <a:ext cx="10242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ruff 做风格检查，mypy 做类型检查，降低后续迭代风险。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演示路径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可按以下顺序进行 5 分钟项目演示。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Oval 5"/>
          <p:cNvSpPr/>
          <p:nvPr/>
        </p:nvSpPr>
        <p:spPr>
          <a:xfrm>
            <a:off x="648000" y="1116000"/>
            <a:ext cx="306000" cy="306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159200"/>
            <a:ext cx="306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098000"/>
            <a:ext cx="972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2230"/>
                </a:solidFill>
                <a:latin typeface="Microsoft YaHei"/>
              </a:rPr>
              <a:t>打开 /store，展示中文前台商城、商品列表和购物车。</a:t>
            </a:r>
          </a:p>
        </p:txBody>
      </p:sp>
      <p:sp>
        <p:nvSpPr>
          <p:cNvPr id="9" name="Oval 8"/>
          <p:cNvSpPr/>
          <p:nvPr/>
        </p:nvSpPr>
        <p:spPr>
          <a:xfrm>
            <a:off x="648000" y="1872000"/>
            <a:ext cx="306000" cy="306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915200"/>
            <a:ext cx="306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1854000"/>
            <a:ext cx="972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2230"/>
                </a:solidFill>
                <a:latin typeface="Microsoft YaHei"/>
              </a:rPr>
              <a:t>进入 /admin，展示中文后台的商品、订单、客户、报表和权限。</a:t>
            </a:r>
          </a:p>
        </p:txBody>
      </p:sp>
      <p:sp>
        <p:nvSpPr>
          <p:cNvPr id="12" name="Oval 11"/>
          <p:cNvSpPr/>
          <p:nvPr/>
        </p:nvSpPr>
        <p:spPr>
          <a:xfrm>
            <a:off x="648000" y="2628000"/>
            <a:ext cx="306000" cy="306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2671200"/>
            <a:ext cx="306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610000"/>
            <a:ext cx="972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2230"/>
                </a:solidFill>
                <a:latin typeface="Microsoft YaHei"/>
              </a:rPr>
              <a:t>创建商品并上传图片，观察前台商品同步展示。</a:t>
            </a:r>
          </a:p>
        </p:txBody>
      </p:sp>
      <p:sp>
        <p:nvSpPr>
          <p:cNvPr id="15" name="Oval 14"/>
          <p:cNvSpPr/>
          <p:nvPr/>
        </p:nvSpPr>
        <p:spPr>
          <a:xfrm>
            <a:off x="648000" y="3384000"/>
            <a:ext cx="306000" cy="306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000" y="3427200"/>
            <a:ext cx="306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366000"/>
            <a:ext cx="972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2230"/>
                </a:solidFill>
                <a:latin typeface="Microsoft YaHei"/>
              </a:rPr>
              <a:t>用前台创建买家、加入购物车、提交订单。</a:t>
            </a:r>
          </a:p>
        </p:txBody>
      </p:sp>
      <p:sp>
        <p:nvSpPr>
          <p:cNvPr id="18" name="Oval 17"/>
          <p:cNvSpPr/>
          <p:nvPr/>
        </p:nvSpPr>
        <p:spPr>
          <a:xfrm>
            <a:off x="648000" y="4140000"/>
            <a:ext cx="306000" cy="306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4183200"/>
            <a:ext cx="306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4122000"/>
            <a:ext cx="972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2230"/>
                </a:solidFill>
                <a:latin typeface="Microsoft YaHei"/>
              </a:rPr>
              <a:t>后台处理订单支付、发货物流、售后退款并查看审计日志。</a:t>
            </a:r>
          </a:p>
        </p:txBody>
      </p:sp>
      <p:sp>
        <p:nvSpPr>
          <p:cNvPr id="21" name="Oval 20"/>
          <p:cNvSpPr/>
          <p:nvPr/>
        </p:nvSpPr>
        <p:spPr>
          <a:xfrm>
            <a:off x="648000" y="4896000"/>
            <a:ext cx="306000" cy="306000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" y="4939200"/>
            <a:ext cx="306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000" y="4878000"/>
            <a:ext cx="9720000" cy="2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2230"/>
                </a:solidFill>
                <a:latin typeface="Microsoft YaHei"/>
              </a:rPr>
              <a:t>打开 /ops/status 和 /ops/metrics 展示监控能力。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288000"/>
            <a:ext cx="6480000" cy="39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82230"/>
                </a:solidFill>
                <a:latin typeface="Microsoft YaHei"/>
              </a:rPr>
              <a:t>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999" y="720000"/>
            <a:ext cx="11160000" cy="108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2000" y="810000"/>
            <a:ext cx="90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Microsoft YaHei"/>
              </a:rPr>
              <a:t>一个可运行、可演示、可继续扩展上线的全栈电商系统。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2000" y="6443999"/>
            <a:ext cx="2520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Microsoft YaHei"/>
              </a:rPr>
              <a:t>数据驱动电商系统平台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1152000"/>
            <a:ext cx="10260000" cy="3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2230"/>
                </a:solidFill>
                <a:latin typeface="Microsoft YaHei"/>
              </a:rPr>
              <a:t>项目已经完成“前台商城 + 中文运营后台 + 数据存储 + 缓存限流 + 支付物流扩展 + 监控部署”的核心闭环。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" y="2196000"/>
            <a:ext cx="10800000" cy="2520000"/>
          </a:xfrm>
          <a:prstGeom prst="round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000" y="2430000"/>
            <a:ext cx="10368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业务完整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" y="2700000"/>
            <a:ext cx="10242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商品、库存、客户、订单、支付、物流、售后、报表均有落地能力。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3312000"/>
            <a:ext cx="10368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技术完整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000" y="3582000"/>
            <a:ext cx="10242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FastAPI、SQLModel、PostgreSQL、Redis、Alembic、Jinja2、pytest 串成完整工程。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4194000"/>
            <a:ext cx="10368000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2230"/>
                </a:solidFill>
                <a:latin typeface="Microsoft YaHei"/>
              </a:rPr>
              <a:t>▪ 扩展明确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000" y="4464000"/>
            <a:ext cx="10242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真实支付/物流只需补商户密钥和供应商 SDK，即可沿现有适配器接入。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